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9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4709160"/>
          </a:xfrm>
          <a:prstGeom prst="roundRect">
            <a:avLst/>
          </a:prstGeom>
          <a:solidFill>
            <a:srgbClr val="F4FDFF"/>
          </a:solidFill>
          <a:ln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1280160"/>
            <a:ext cx="347472" cy="34747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1207008"/>
            <a:ext cx="96012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1C2732"/>
                </a:solidFill>
              </a:rPr>
              <a:t>Trash Detection and Cleanliness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19072"/>
            <a:ext cx="960120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900" b="0">
                <a:solidFill>
                  <a:srgbClr val="00838F"/>
                </a:solidFill>
              </a:rPr>
              <a:t>using YOLOv8 and an Interactive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944368"/>
            <a:ext cx="5486400" cy="1188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800" b="1">
                <a:solidFill>
                  <a:srgbClr val="1C2732"/>
                </a:solidFill>
              </a:rPr>
              <a:t>Odra Bira – 50678448
Sai Rohith Bharadwaj – 50658865
Pranay Lachuluri – 50652406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343400"/>
            <a:ext cx="2743200" cy="77724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0" y="4343400"/>
            <a:ext cx="82296" cy="7772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1" y="4453128"/>
            <a:ext cx="2487168" cy="61264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b="1">
                <a:solidFill>
                  <a:srgbClr val="1C2732"/>
                </a:solidFill>
              </a:rPr>
              <a:t>Project focus</a:t>
            </a:r>
          </a:p>
          <a:p>
            <a:pPr>
              <a:spcBef>
                <a:spcPts val="400"/>
              </a:spcBef>
              <a:defRPr sz="1100">
                <a:solidFill>
                  <a:srgbClr val="526574"/>
                </a:solidFill>
              </a:defRPr>
            </a:pPr>
            <a:r>
              <a:t>Detect litter, visualize hotspots, and estimate cleanliness.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65392"/>
            <a:ext cx="36576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526574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1. What is the aim of the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A practical AI system for trash detection and environmental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383280" cy="123444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82296" cy="1234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3127248" cy="10698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Main aim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Use deep learning to detect litter objects in real-world scenes and support environmental cleanliness monitoring.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83280" cy="123444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82296" cy="1234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1" y="1435607"/>
            <a:ext cx="3127248" cy="10698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Why this matters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Manual inspection is slow, inconsistent, and hard to scale across large public spaces.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25880"/>
            <a:ext cx="3246120" cy="123444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325880"/>
            <a:ext cx="82296" cy="1234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435607"/>
            <a:ext cx="2990087" cy="10698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Final output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An assistant that shows detections, hotspot heatmaps, cleanliness score, and a short interpretation.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71800"/>
            <a:ext cx="50292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732"/>
                </a:solidFill>
              </a:defRPr>
            </a:pPr>
            <a:r>
              <a:t>Detect trash categories using YOLOv8 object detection.</a:t>
            </a:r>
          </a:p>
          <a:p>
            <a:pPr>
              <a:spcAft>
                <a:spcPts val="700"/>
              </a:spcAft>
              <a:defRPr sz="1700">
                <a:solidFill>
                  <a:srgbClr val="1C2732"/>
                </a:solidFill>
              </a:defRPr>
            </a:pPr>
            <a:r>
              <a:t>Localize litter with bounding boxes.</a:t>
            </a:r>
          </a:p>
          <a:p>
            <a:pPr>
              <a:spcAft>
                <a:spcPts val="700"/>
              </a:spcAft>
              <a:defRPr sz="1700">
                <a:solidFill>
                  <a:srgbClr val="1C2732"/>
                </a:solidFill>
              </a:defRPr>
            </a:pPr>
            <a:r>
              <a:t>Highlight polluted regions using a heatmap overlay.</a:t>
            </a:r>
          </a:p>
          <a:p>
            <a:pPr>
              <a:spcAft>
                <a:spcPts val="700"/>
              </a:spcAft>
              <a:defRPr sz="1700">
                <a:solidFill>
                  <a:srgbClr val="1C2732"/>
                </a:solidFill>
              </a:defRPr>
            </a:pPr>
            <a:r>
              <a:t>Summarize the scene using a 0–100 cleanliness score.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32887"/>
            <a:ext cx="48006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Detection example</a:t>
            </a:r>
          </a:p>
        </p:txBody>
      </p:sp>
      <p:pic>
        <p:nvPicPr>
          <p:cNvPr id="18" name="Picture 17" descr="single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201" y="2788920"/>
            <a:ext cx="4589797" cy="29260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506201" y="2788920"/>
            <a:ext cx="4589797" cy="292608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2. Background theory: object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Why this is different from a normal image classification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74720" cy="109728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82296" cy="10972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435607"/>
            <a:ext cx="3218687" cy="9326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Classification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Answers: “What is in the image?”</a:t>
            </a:r>
            <a:br/>
            <a:r>
              <a:t>Example: trash / no trash.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109728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82296" cy="10972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435607"/>
            <a:ext cx="3218687" cy="9326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Object detection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Answers: “What objects are present and where are they?”</a:t>
            </a:r>
            <a:br/>
            <a:r>
              <a:t>Output: class + bounding box.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474720" cy="109728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82296" cy="10972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1435607"/>
            <a:ext cx="3218687" cy="9326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Why detection is harder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The model must classify each object and draw an accurate box around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88920"/>
            <a:ext cx="54864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732"/>
                </a:solidFill>
              </a:defRPr>
            </a:pPr>
            <a:r>
              <a:t>A single image may contain multiple trash objects.</a:t>
            </a:r>
          </a:p>
          <a:p>
            <a:pPr>
              <a:spcAft>
                <a:spcPts val="700"/>
              </a:spcAft>
              <a:defRPr sz="1700">
                <a:solidFill>
                  <a:srgbClr val="1C2732"/>
                </a:solidFill>
              </a:defRPr>
            </a:pPr>
            <a:r>
              <a:t>Each object can belong to a different class.</a:t>
            </a:r>
          </a:p>
          <a:p>
            <a:pPr>
              <a:spcAft>
                <a:spcPts val="700"/>
              </a:spcAft>
              <a:defRPr sz="1700">
                <a:solidFill>
                  <a:srgbClr val="1C2732"/>
                </a:solidFill>
              </a:defRPr>
            </a:pPr>
            <a:r>
              <a:t>Objects may be small, rotated, partly hidden, or camouflaged by background.</a:t>
            </a:r>
          </a:p>
          <a:p>
            <a:pPr>
              <a:spcAft>
                <a:spcPts val="700"/>
              </a:spcAft>
              <a:defRPr sz="1700">
                <a:solidFill>
                  <a:srgbClr val="1C2732"/>
                </a:solidFill>
              </a:defRPr>
            </a:pPr>
            <a:r>
              <a:t>Evaluation uses precision, recall, F1 score, and mAP rather than only “accuracy.”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87168"/>
            <a:ext cx="45262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Multiple objects in cluttered scenes</a:t>
            </a:r>
          </a:p>
        </p:txBody>
      </p:sp>
      <p:pic>
        <p:nvPicPr>
          <p:cNvPr id="18" name="Picture 17" descr="val_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867929"/>
            <a:ext cx="4526280" cy="26309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675120" y="2867929"/>
            <a:ext cx="4526280" cy="263090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3. Dataset used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TACO-style litter detection dataset prepared in YOLO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200400" cy="100584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82296" cy="10058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435607"/>
            <a:ext cx="2944368" cy="8412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Dataset type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Real-world litter images with object-level bounding box annotations.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200400" cy="100584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325880"/>
            <a:ext cx="82296" cy="10058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435607"/>
            <a:ext cx="2944368" cy="8412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Classes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59 trash categories such as plastic bottles, cans, cups, wrappers, bags, caps, and unlabeled litter.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325880"/>
            <a:ext cx="3200400" cy="100584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1325880"/>
            <a:ext cx="82296" cy="10058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99831" y="1435607"/>
            <a:ext cx="2944368" cy="8412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Split used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1200 training images and 299 validation images after our dataset preparation step.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548640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Images contain outdoor backgrounds such as roads, grass, sand, leaves, and public spaces.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YOLO label files store class id plus normalized bounding box coordinates.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We verified image/label counts before training to avoid broken dataset paths.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This dataset is realistic, but challenging because trash objects are often small and visually similar.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395728"/>
            <a:ext cx="45720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Dataset examples</a:t>
            </a:r>
          </a:p>
        </p:txBody>
      </p:sp>
      <p:pic>
        <p:nvPicPr>
          <p:cNvPr id="18" name="Picture 17" descr="val_batc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551" y="2651760"/>
            <a:ext cx="3995697" cy="29718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917551" y="2651760"/>
            <a:ext cx="3995697" cy="297180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4. Dataset preparation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What we did before model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2560320" cy="96012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82296" cy="9601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481328"/>
            <a:ext cx="2304287" cy="7955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Step 1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Mounted Google Drive and organized the project directory.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560320" cy="96012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82296" cy="9601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1481328"/>
            <a:ext cx="2304287" cy="7955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Step 2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Extracted and inspected image and label folders.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71600"/>
            <a:ext cx="2560320" cy="96012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82296" cy="9601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481328"/>
            <a:ext cx="2304287" cy="7955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Step 3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Created validation split and fixed data YAML paths.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371600"/>
            <a:ext cx="2560320" cy="96012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1371600"/>
            <a:ext cx="82296" cy="9601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79992" y="1481328"/>
            <a:ext cx="2304287" cy="7955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Step 4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Copied dataset locally for faster training where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788920"/>
            <a:ext cx="54864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This work was important because an incorrect path or missing split can make training results invalid.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We checked the exact number of train and validation images before running YOLOv8.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The final YAML pointed YOLO to the correct train/images and val/images folders.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The dataset preparation stage made later experiments repeatable and easier to validate.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834640"/>
            <a:ext cx="4389120" cy="73152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20840" y="2834640"/>
            <a:ext cx="82296" cy="7315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85431" y="2944368"/>
            <a:ext cx="4133087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Train set</a:t>
            </a:r>
          </a:p>
          <a:p>
            <a:pPr>
              <a:spcBef>
                <a:spcPts val="400"/>
              </a:spcBef>
              <a:defRPr sz="1300">
                <a:solidFill>
                  <a:srgbClr val="526574"/>
                </a:solidFill>
              </a:defRPr>
            </a:pPr>
            <a:r>
              <a:t>1200 images + matching labels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3794760"/>
            <a:ext cx="4389120" cy="73152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20840" y="3794760"/>
            <a:ext cx="82296" cy="7315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85431" y="3904488"/>
            <a:ext cx="4133087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Validation set</a:t>
            </a:r>
          </a:p>
          <a:p>
            <a:pPr>
              <a:spcBef>
                <a:spcPts val="400"/>
              </a:spcBef>
              <a:defRPr sz="1300">
                <a:solidFill>
                  <a:srgbClr val="526574"/>
                </a:solidFill>
              </a:defRPr>
            </a:pPr>
            <a:r>
              <a:t>299 images + matching labels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4754880"/>
            <a:ext cx="4389120" cy="73152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20840" y="4754880"/>
            <a:ext cx="82296" cy="7315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85431" y="4864608"/>
            <a:ext cx="4133087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Final YAML</a:t>
            </a:r>
          </a:p>
          <a:p>
            <a:pPr>
              <a:spcBef>
                <a:spcPts val="400"/>
              </a:spcBef>
              <a:defRPr sz="1300">
                <a:solidFill>
                  <a:srgbClr val="526574"/>
                </a:solidFill>
              </a:defRPr>
            </a:pPr>
            <a:r>
              <a:t>path + train + val + 59 names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5. YOLOv8 model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Why YOLOv8 was selected for this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51206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000" b="1">
                <a:solidFill>
                  <a:srgbClr val="00838F"/>
                </a:solidFill>
              </a:rPr>
              <a:t>YOLO = You Only Look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544068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YOLO performs object localization and classification in one forward pass.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It is suitable for practical applications because it is fast and easy to deploy.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Pretrained weights allow transfer learning from general object features to trash detection.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YOLOv8 provides training outputs such as losses, precision/recall curves, prediction batches, and confusion matrices.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417320"/>
            <a:ext cx="4389120" cy="91440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20840" y="1417320"/>
            <a:ext cx="82296" cy="9144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5431" y="1527048"/>
            <a:ext cx="4133087" cy="7498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YOLOv8n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Lightweight baseline model for initial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560320"/>
            <a:ext cx="4389120" cy="91440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20840" y="2560320"/>
            <a:ext cx="82296" cy="9144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85431" y="2670048"/>
            <a:ext cx="4133087" cy="7498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YOLOv8s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Improved model with higher resolution and stronger augmentation.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703320"/>
            <a:ext cx="4389120" cy="91440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20840" y="3703320"/>
            <a:ext cx="82296" cy="9144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85431" y="3813048"/>
            <a:ext cx="4133087" cy="7498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YOLOv8m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Final stronger model used for the main demonstration.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4846320"/>
            <a:ext cx="4389120" cy="91440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20840" y="4846320"/>
            <a:ext cx="82296" cy="9144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1" y="4956048"/>
            <a:ext cx="4133087" cy="7498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best.pt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Final model checkpoint selected from validation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6. What work has already been conducted?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Summary of completed technical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669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Researched litter detection and selected a YOLOv8-based object detection pipeline.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Prepared the TACO-style dataset in YOLO format and fixed the training/validation structure.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Implemented baseline YOLOv8n training and then improved configurations with YOLOv8s and YOLOv8m.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Tested higher image resolution, stronger augmentation, AdamW optimizer, and longer training.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Generated model outputs: prediction images, training curves, confusion matrices, heatmap, cleanliness score, and Gradio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252728"/>
            <a:ext cx="47548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Training curves from final model</a:t>
            </a:r>
          </a:p>
        </p:txBody>
      </p:sp>
      <p:pic>
        <p:nvPicPr>
          <p:cNvPr id="9" name="Picture 8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37360"/>
            <a:ext cx="4754880" cy="2377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629400" y="1737360"/>
            <a:ext cx="4754880" cy="237744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86600" y="4361688"/>
            <a:ext cx="38404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Final prediction output</a:t>
            </a:r>
          </a:p>
        </p:txBody>
      </p:sp>
      <p:pic>
        <p:nvPicPr>
          <p:cNvPr id="12" name="Picture 11" descr="single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532" y="4617720"/>
            <a:ext cx="2366614" cy="15087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823532" y="4617720"/>
            <a:ext cx="2366614" cy="150876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7. Model improvement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How we moved beyond the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46120" cy="109728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82296" cy="10972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35607"/>
            <a:ext cx="2990087" cy="9326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Higher image size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Used larger image sizes to help the model see smaller trash objects more clearly.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246120" cy="109728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82296" cy="10972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1" y="1435607"/>
            <a:ext cx="2990087" cy="9326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Augmentation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Used color, scale, translation, flip, mosaic, and mixup style training settings for robustness.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246120" cy="109728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79" y="1325880"/>
            <a:ext cx="82296" cy="10972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1" y="1435607"/>
            <a:ext cx="2990087" cy="9326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Stronger model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Moved from YOLOv8n baseline to YOLOv8s and YOLOv8m for higher model capacity.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566928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We kept the original 59-class detection task rather than simplifying the problem into one class.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This made the task harder, but preserved category-level trash recognition.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The final model was trained up to epoch 86 before runtime interruption; the saved best checkpoint was used for final reporting.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This approach shows experimentation, not just a single training run.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624328"/>
            <a:ext cx="4389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Training progress</a:t>
            </a:r>
          </a:p>
        </p:txBody>
      </p:sp>
      <p:pic>
        <p:nvPicPr>
          <p:cNvPr id="17" name="Picture 16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017520"/>
            <a:ext cx="4389120" cy="21945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812280" y="3017520"/>
            <a:ext cx="4389120" cy="219456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8. What value additions have we contributed?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Original contributions beyond a standard YOLO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291840" cy="105156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82296" cy="10515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481328"/>
            <a:ext cx="3035808" cy="886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>
                <a:solidFill>
                  <a:srgbClr val="1C2732"/>
                </a:solidFill>
              </a:rPr>
              <a:t>Value addition 1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A complete multi-model training and comparison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291840" cy="105156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82296" cy="10515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481328"/>
            <a:ext cx="3035808" cy="886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>
                <a:solidFill>
                  <a:srgbClr val="1C2732"/>
                </a:solidFill>
              </a:rPr>
              <a:t>Value addition 2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Heatmap overlay showing where litter is concentrated.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291840" cy="105156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82296" cy="10515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481328"/>
            <a:ext cx="3035808" cy="886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>
                <a:solidFill>
                  <a:srgbClr val="1C2732"/>
                </a:solidFill>
              </a:rPr>
              <a:t>Value addition 3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Cleanliness score that converts detections into a simple 0–100 interpretation.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2880360"/>
            <a:ext cx="3291840" cy="105156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06040" y="2880360"/>
            <a:ext cx="82296" cy="10515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70632" y="2990088"/>
            <a:ext cx="3035808" cy="886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>
                <a:solidFill>
                  <a:srgbClr val="1C2732"/>
                </a:solidFill>
              </a:rPr>
              <a:t>Value addition 4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Gradio assistant for upload, detection, heatmap, and summary.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880360"/>
            <a:ext cx="3291840" cy="105156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2880360"/>
            <a:ext cx="82296" cy="10515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2990088"/>
            <a:ext cx="3035808" cy="886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 dirty="0">
                <a:solidFill>
                  <a:srgbClr val="1C2732"/>
                </a:solidFill>
              </a:rPr>
              <a:t>Value addition 5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rPr dirty="0"/>
              <a:t>Presentation-ready visual analysis: prediction batches, confusion matrix, and training curves.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133087"/>
            <a:ext cx="6309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Detection + heatmap + score output</a:t>
            </a:r>
          </a:p>
        </p:txBody>
      </p:sp>
      <p:pic>
        <p:nvPicPr>
          <p:cNvPr id="23" name="Picture 22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840" y="4389120"/>
            <a:ext cx="2903838" cy="16916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28840" y="4389120"/>
            <a:ext cx="2903838" cy="169164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9. What results did we achieve?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Main outcomes without overloading the slide with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5778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The system detects multiple trash objects and provides class labels with bounding boxes.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The final model showed learning progress: training losses decreased and validation metrics improved across epochs.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The strict localization metric improved compared with the initial baseline, showing better box quality and overall detection behavior.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The assistant produced interpretable outputs: object count, trash categories, cleanliness level, and heatmap visualization.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115568"/>
            <a:ext cx="47548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Training and validation progress</a:t>
            </a:r>
          </a:p>
        </p:txBody>
      </p:sp>
      <p:pic>
        <p:nvPicPr>
          <p:cNvPr id="9" name="Picture 8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508760"/>
            <a:ext cx="4754880" cy="2377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629400" y="1508760"/>
            <a:ext cx="4754880" cy="237744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4087368"/>
            <a:ext cx="47548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Assistant result example</a:t>
            </a:r>
          </a:p>
        </p:txBody>
      </p:sp>
      <p:pic>
        <p:nvPicPr>
          <p:cNvPr id="12" name="Picture 11" descr="grad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718" y="4343400"/>
            <a:ext cx="1784242" cy="15087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114718" y="4343400"/>
            <a:ext cx="1784242" cy="150876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10. Evaluation visual: 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Understanding where the model succeeds and struggles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69848"/>
            <a:ext cx="56692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Normalized confusion matrix</a:t>
            </a:r>
          </a:p>
        </p:txBody>
      </p:sp>
      <p:pic>
        <p:nvPicPr>
          <p:cNvPr id="8" name="Picture 7" descr="cm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19"/>
            <a:ext cx="566928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1645919"/>
            <a:ext cx="5669280" cy="425196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600200"/>
            <a:ext cx="438912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Useful for diagnosing class-level confusion.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Strong diagonal entries indicate correctly learned classes.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Many off-diagonal/background entries reflect the difficulty of small and similar trash categories.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This analysis guided our discussion of limitations and future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4800600"/>
            <a:ext cx="4389120" cy="86868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4800600"/>
            <a:ext cx="82296" cy="8686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85431" y="4910328"/>
            <a:ext cx="4133087" cy="7040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>
                <a:solidFill>
                  <a:srgbClr val="1C2732"/>
                </a:solidFill>
              </a:rPr>
              <a:t>Key takeaway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The project is technically challenging because many trash classes overlap visually and are unevenly represented.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11. Qualitative detection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Representative visual outputs from the trained 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24127"/>
            <a:ext cx="36118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Batch output A</a:t>
            </a:r>
          </a:p>
        </p:txBody>
      </p:sp>
      <p:pic>
        <p:nvPicPr>
          <p:cNvPr id="8" name="Picture 7" descr="val_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50597"/>
            <a:ext cx="3611880" cy="20994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1350597"/>
            <a:ext cx="3611880" cy="2099405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1024127"/>
            <a:ext cx="36118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Batch output B</a:t>
            </a:r>
          </a:p>
        </p:txBody>
      </p:sp>
      <p:pic>
        <p:nvPicPr>
          <p:cNvPr id="11" name="Picture 10" descr="val_batc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141" y="1280160"/>
            <a:ext cx="3012141" cy="2240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762141" y="1280160"/>
            <a:ext cx="3012141" cy="224028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84464" y="1024127"/>
            <a:ext cx="3246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Batch output C</a:t>
            </a:r>
          </a:p>
        </p:txBody>
      </p:sp>
      <p:pic>
        <p:nvPicPr>
          <p:cNvPr id="14" name="Picture 13" descr="val_batch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453" y="1280160"/>
            <a:ext cx="3012141" cy="22402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401453" y="1280160"/>
            <a:ext cx="3012141" cy="224028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721607"/>
            <a:ext cx="466344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Single prediction example</a:t>
            </a:r>
          </a:p>
        </p:txBody>
      </p:sp>
      <p:pic>
        <p:nvPicPr>
          <p:cNvPr id="17" name="Picture 16" descr="single_p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0092" y="3977639"/>
            <a:ext cx="3012054" cy="19202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740092" y="3977639"/>
            <a:ext cx="3012054" cy="192024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89320" y="4069080"/>
            <a:ext cx="512064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732"/>
                </a:solidFill>
              </a:defRPr>
            </a:pPr>
            <a:r>
              <a:t>Visual outputs confirm that the model localizes several common litter items.</a:t>
            </a:r>
          </a:p>
          <a:p>
            <a:pPr>
              <a:spcAft>
                <a:spcPts val="700"/>
              </a:spcAft>
              <a:defRPr sz="1500">
                <a:solidFill>
                  <a:srgbClr val="1C2732"/>
                </a:solidFill>
              </a:defRPr>
            </a:pPr>
            <a:r>
              <a:t>Some detections overlap or misclassify similar trash types, which is expected for 59 classes.</a:t>
            </a:r>
          </a:p>
          <a:p>
            <a:pPr>
              <a:spcAft>
                <a:spcPts val="700"/>
              </a:spcAft>
              <a:defRPr sz="1500">
                <a:solidFill>
                  <a:srgbClr val="1C2732"/>
                </a:solidFill>
              </a:defRPr>
            </a:pPr>
            <a:r>
              <a:t>These examples are useful for explaining both strengths and limitations clearly.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12. Heatmap generation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Turning detections into spatial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12064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000" b="1">
                <a:solidFill>
                  <a:srgbClr val="00838F"/>
                </a:solidFill>
              </a:rPr>
              <a:t>How the heatmap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521208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Each detected bounding box contributes intensity to its image region.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Higher-confidence detections contribute stronger heat.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Overlapping or clustered detections form visible hotspot areas.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The output helps users see not only what trash is present, but where it is concentrated.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61288"/>
            <a:ext cx="47548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Heatmap output</a:t>
            </a:r>
          </a:p>
        </p:txBody>
      </p:sp>
      <p:pic>
        <p:nvPicPr>
          <p:cNvPr id="10" name="Picture 9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69695"/>
            <a:ext cx="4754880" cy="276996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0" y="1769695"/>
            <a:ext cx="4754880" cy="2769969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8680" y="4892040"/>
            <a:ext cx="10241280" cy="68580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4892040"/>
            <a:ext cx="82296" cy="685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5001768"/>
            <a:ext cx="9985248" cy="5212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>
                <a:solidFill>
                  <a:srgbClr val="1C2732"/>
                </a:solidFill>
              </a:rPr>
              <a:t>Originality point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This is a value-added analytics layer on top of the YOLOv8 detector, making the system more useful for environmental monitoring.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13. Cleanliness score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A simple interpretation layer for non-technical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3337560" cy="114300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82296" cy="1143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435607"/>
            <a:ext cx="3081528" cy="9784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Input to score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Number of detected objects, object area, and confidence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37560" cy="114300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82296" cy="1143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1" y="1435607"/>
            <a:ext cx="3081528" cy="9784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Score meaning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Higher score means cleaner scene; lower score means higher litter concentration.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337560" cy="114300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82296" cy="1143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435607"/>
            <a:ext cx="3081528" cy="9784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Output labels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Clean, moderately littered, polluted, or highly polluted.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71800"/>
            <a:ext cx="553212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The score is not meant to replace formal environmental auditing.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It is a lightweight decision-support indicator derived from detection outputs.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It makes the model result easier to understand for users who do not work with object detection metrics.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The score can support quick comparison across images or locations.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24328"/>
            <a:ext cx="44805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Assistant summary with score</a:t>
            </a:r>
          </a:p>
        </p:txBody>
      </p:sp>
      <p:pic>
        <p:nvPicPr>
          <p:cNvPr id="18" name="Picture 17" descr="gradi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322" y="2880360"/>
            <a:ext cx="2424154" cy="26517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703322" y="2880360"/>
            <a:ext cx="2424154" cy="265176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14. Interactive assistant example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Multiple objects near a bin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78408"/>
            <a:ext cx="76809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Gradio assistant screenshot</a:t>
            </a:r>
          </a:p>
        </p:txBody>
      </p:sp>
      <p:pic>
        <p:nvPicPr>
          <p:cNvPr id="8" name="Picture 7" descr="grad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54" y="1234440"/>
            <a:ext cx="5947451" cy="5166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52554" y="1234440"/>
            <a:ext cx="5947451" cy="516636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41080" y="1691640"/>
            <a:ext cx="274320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732"/>
                </a:solidFill>
              </a:defRPr>
            </a:pPr>
            <a:r>
              <a:t>User uploads an image.</a:t>
            </a:r>
          </a:p>
          <a:p>
            <a:pPr>
              <a:spcAft>
                <a:spcPts val="700"/>
              </a:spcAft>
              <a:defRPr sz="1500">
                <a:solidFill>
                  <a:srgbClr val="1C2732"/>
                </a:solidFill>
              </a:defRPr>
            </a:pPr>
            <a:r>
              <a:t>The assistant displays detection boxes.</a:t>
            </a:r>
          </a:p>
          <a:p>
            <a:pPr>
              <a:spcAft>
                <a:spcPts val="700"/>
              </a:spcAft>
              <a:defRPr sz="1500">
                <a:solidFill>
                  <a:srgbClr val="1C2732"/>
                </a:solidFill>
              </a:defRPr>
            </a:pPr>
            <a:r>
              <a:t>A heatmap shows litter concentration.</a:t>
            </a:r>
          </a:p>
          <a:p>
            <a:pPr>
              <a:spcAft>
                <a:spcPts val="700"/>
              </a:spcAft>
              <a:defRPr sz="1500">
                <a:solidFill>
                  <a:srgbClr val="1C2732"/>
                </a:solidFill>
              </a:defRPr>
            </a:pPr>
            <a:r>
              <a:t>The system presents the result in an accessible visual interface.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15. Interactive assistant example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Ground litter scene with assistant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78408"/>
            <a:ext cx="76809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Gradio assistant screenshot</a:t>
            </a:r>
          </a:p>
        </p:txBody>
      </p:sp>
      <p:pic>
        <p:nvPicPr>
          <p:cNvPr id="8" name="Picture 7" descr="grad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440" y="1234440"/>
            <a:ext cx="6109678" cy="5166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71440" y="1234440"/>
            <a:ext cx="6109678" cy="516636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41080" y="1691640"/>
            <a:ext cx="278892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732"/>
                </a:solidFill>
              </a:defRPr>
            </a:pPr>
            <a:r>
              <a:t>The assistant gives detected object types and counts.</a:t>
            </a:r>
          </a:p>
          <a:p>
            <a:pPr>
              <a:spcAft>
                <a:spcPts val="700"/>
              </a:spcAft>
              <a:defRPr sz="1500">
                <a:solidFill>
                  <a:srgbClr val="1C2732"/>
                </a:solidFill>
              </a:defRPr>
            </a:pPr>
            <a:r>
              <a:t>The cleanliness score communicates the scene condition.</a:t>
            </a:r>
          </a:p>
          <a:p>
            <a:pPr>
              <a:spcAft>
                <a:spcPts val="700"/>
              </a:spcAft>
              <a:defRPr sz="1500">
                <a:solidFill>
                  <a:srgbClr val="1C2732"/>
                </a:solidFill>
              </a:defRPr>
            </a:pPr>
            <a:r>
              <a:t>This demonstrates the project as a usable application, not only a model training notebook.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16. Interactive assistant example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Moderately littered outdoor scene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78408"/>
            <a:ext cx="76809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Gradio assistant screenshot</a:t>
            </a:r>
          </a:p>
        </p:txBody>
      </p:sp>
      <p:pic>
        <p:nvPicPr>
          <p:cNvPr id="8" name="Picture 7" descr="gradio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819" y="1234440"/>
            <a:ext cx="4722921" cy="5166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64819" y="1234440"/>
            <a:ext cx="4722921" cy="516636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41080" y="1691640"/>
            <a:ext cx="278892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732"/>
                </a:solidFill>
              </a:defRPr>
            </a:pPr>
            <a:r>
              <a:t>Shows the interface working on another environment.</a:t>
            </a:r>
          </a:p>
          <a:p>
            <a:pPr>
              <a:spcAft>
                <a:spcPts val="700"/>
              </a:spcAft>
              <a:defRPr sz="1500">
                <a:solidFill>
                  <a:srgbClr val="1C2732"/>
                </a:solidFill>
              </a:defRPr>
            </a:pPr>
            <a:r>
              <a:t>Visual detections and heatmap remain easy to interpret.</a:t>
            </a:r>
          </a:p>
          <a:p>
            <a:pPr>
              <a:spcAft>
                <a:spcPts val="700"/>
              </a:spcAft>
              <a:defRPr sz="1500">
                <a:solidFill>
                  <a:srgbClr val="1C2732"/>
                </a:solidFill>
              </a:defRPr>
            </a:pPr>
            <a:r>
              <a:t>This supports classroom demonstration and future real-world deployment ideas.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17. Challenges, limitations, and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A realistic discussion of model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29000" cy="100584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82296" cy="10058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435607"/>
            <a:ext cx="3172968" cy="8412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Dataset challenge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59 classes, imbalance, small objects, and visually similar trash types.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00584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82296" cy="10058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435607"/>
            <a:ext cx="3172968" cy="8412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Training challenge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Colab GPU limits, runtime disconnects, and long training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29000" cy="100584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82296" cy="10058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435607"/>
            <a:ext cx="3172968" cy="8412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Evaluation challenge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Object detection metrics are stricter than classification accuracy.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88920"/>
            <a:ext cx="562356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The final model is useful, but not perfect; some rare categories remain difficult.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Small objects such as caps, straws, and cigarette butts are especially hard to detect.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The model can confuse similar plastic categories, which is expected in cluttered scenes.</a:t>
            </a:r>
          </a:p>
          <a:p>
            <a:pPr>
              <a:spcAft>
                <a:spcPts val="700"/>
              </a:spcAft>
              <a:defRPr sz="1600">
                <a:solidFill>
                  <a:srgbClr val="1C2732"/>
                </a:solidFill>
              </a:defRPr>
            </a:pPr>
            <a:r>
              <a:t>Future work can improve this using more balanced data, targeted augmentation, and additional training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532887"/>
            <a:ext cx="44805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Evidence of class-level confusion</a:t>
            </a:r>
          </a:p>
        </p:txBody>
      </p:sp>
      <p:pic>
        <p:nvPicPr>
          <p:cNvPr id="18" name="Picture 17" descr="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360" y="2788920"/>
            <a:ext cx="3779519" cy="28346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071360" y="2788920"/>
            <a:ext cx="3779519" cy="283464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18. Evaluation criteria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How the project addresses technical quality, originality, and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429000" cy="123444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82296" cy="1234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27048"/>
            <a:ext cx="3172968" cy="10698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Technical Quality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YOLOv8 training pipeline, dataset preparation, model comparison, validation outputs, and working inference demo.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23444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82296" cy="1234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27048"/>
            <a:ext cx="3172968" cy="10698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Originality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Added heatmap generation, cleanliness scoring, and interactive assistant on top of object detection.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417320"/>
            <a:ext cx="3429000" cy="123444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417320"/>
            <a:ext cx="82296" cy="1234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9871" y="1527048"/>
            <a:ext cx="3172968" cy="10698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Communication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Presentation emphasizes aim, prior work, value additions, results, and limitations in a clear structure.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46120"/>
            <a:ext cx="978408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732"/>
                </a:solidFill>
              </a:defRPr>
            </a:pPr>
            <a:r>
              <a:t>We can demonstrate the system live using the Gradio interface.</a:t>
            </a:r>
          </a:p>
          <a:p>
            <a:pPr>
              <a:spcAft>
                <a:spcPts val="700"/>
              </a:spcAft>
              <a:defRPr sz="1800">
                <a:solidFill>
                  <a:srgbClr val="1C2732"/>
                </a:solidFill>
              </a:defRPr>
            </a:pPr>
            <a:r>
              <a:t>Detailed metrics are available in the notebook if requested.</a:t>
            </a:r>
          </a:p>
          <a:p>
            <a:pPr>
              <a:spcAft>
                <a:spcPts val="700"/>
              </a:spcAft>
              <a:defRPr sz="1800">
                <a:solidFill>
                  <a:srgbClr val="1C2732"/>
                </a:solidFill>
              </a:defRPr>
            </a:pPr>
            <a:r>
              <a:t>The main presentation focuses on system contribution and interpretation rather than a dense accuracy table.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19.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How the system can be improved after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76072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732"/>
                </a:solidFill>
              </a:defRPr>
            </a:pPr>
            <a:r>
              <a:t>Collect more balanced samples for rare trash categories.</a:t>
            </a:r>
          </a:p>
          <a:p>
            <a:pPr>
              <a:spcAft>
                <a:spcPts val="700"/>
              </a:spcAft>
              <a:defRPr sz="1700">
                <a:solidFill>
                  <a:srgbClr val="1C2732"/>
                </a:solidFill>
              </a:defRPr>
            </a:pPr>
            <a:r>
              <a:t>Use targeted augmentation for small objects such as caps, wrappers, and straws.</a:t>
            </a:r>
          </a:p>
          <a:p>
            <a:pPr>
              <a:spcAft>
                <a:spcPts val="700"/>
              </a:spcAft>
              <a:defRPr sz="1700">
                <a:solidFill>
                  <a:srgbClr val="1C2732"/>
                </a:solidFill>
              </a:defRPr>
            </a:pPr>
            <a:r>
              <a:t>Experiment with higher-resolution training when GPU resources are available.</a:t>
            </a:r>
          </a:p>
          <a:p>
            <a:pPr>
              <a:spcAft>
                <a:spcPts val="700"/>
              </a:spcAft>
              <a:defRPr sz="1700">
                <a:solidFill>
                  <a:srgbClr val="1C2732"/>
                </a:solidFill>
              </a:defRPr>
            </a:pPr>
            <a:r>
              <a:t>Try two-stage design: general trash detector first, detailed class classifier second.</a:t>
            </a:r>
          </a:p>
          <a:p>
            <a:pPr>
              <a:spcAft>
                <a:spcPts val="700"/>
              </a:spcAft>
              <a:defRPr sz="1700">
                <a:solidFill>
                  <a:srgbClr val="1C2732"/>
                </a:solidFill>
              </a:defRPr>
            </a:pPr>
            <a:r>
              <a:t>Deploy the assistant as a web application for mobile or municipal use cases.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161288"/>
            <a:ext cx="42976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1">
                <a:solidFill>
                  <a:srgbClr val="1C2732"/>
                </a:solidFill>
              </a:rPr>
              <a:t>Future-ready interface</a:t>
            </a:r>
          </a:p>
        </p:txBody>
      </p:sp>
      <p:pic>
        <p:nvPicPr>
          <p:cNvPr id="9" name="Picture 8" descr="grad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969" y="1417320"/>
            <a:ext cx="3676620" cy="3108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59969" y="1417320"/>
            <a:ext cx="3676620" cy="3108960"/>
          </a:xfrm>
          <a:prstGeom prst="rect">
            <a:avLst/>
          </a:prstGeom>
          <a:noFill/>
          <a:ln w="1016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49440" y="4892040"/>
            <a:ext cx="4297680" cy="82296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49440" y="4892040"/>
            <a:ext cx="82296" cy="8229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14031" y="5001768"/>
            <a:ext cx="4041648" cy="6583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Long-term vision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Use AI to support cleaner public spaces through faster detection and easier reporting.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732"/>
                </a:solidFill>
              </a:rPr>
              <a:t>20.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26574"/>
                </a:solidFill>
              </a:rPr>
              <a:t>Final message for class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26574"/>
                </a:solidFill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3246120" cy="114300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371600"/>
            <a:ext cx="82296" cy="1143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481328"/>
            <a:ext cx="2990087" cy="9784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Aim achieved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We built a complete trash detection and cleanliness analysis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71600"/>
            <a:ext cx="3246120" cy="114300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371600"/>
            <a:ext cx="82296" cy="1143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481328"/>
            <a:ext cx="2990087" cy="9784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Value added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We added heatmap visualization, cleanliness scoring, and a user-facing assistant.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71600"/>
            <a:ext cx="3246120" cy="1143000"/>
          </a:xfrm>
          <a:prstGeom prst="roundRect">
            <a:avLst/>
          </a:prstGeom>
          <a:solidFill>
            <a:srgbClr val="F8FCFD"/>
          </a:solidFill>
          <a:ln w="12700">
            <a:solidFill>
              <a:srgbClr val="C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371600"/>
            <a:ext cx="82296" cy="1143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1" y="1481328"/>
            <a:ext cx="2990087" cy="9784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500" b="1">
                <a:solidFill>
                  <a:srgbClr val="1C2732"/>
                </a:solidFill>
              </a:rPr>
              <a:t>Result achieved</a:t>
            </a:r>
          </a:p>
          <a:p>
            <a:pPr>
              <a:spcBef>
                <a:spcPts val="400"/>
              </a:spcBef>
              <a:defRPr sz="1200">
                <a:solidFill>
                  <a:srgbClr val="526574"/>
                </a:solidFill>
              </a:defRPr>
            </a:pPr>
            <a:r>
              <a:t>The system produces interpretable outputs and is ready for live demonstration.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657600"/>
            <a:ext cx="402336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3200" b="1">
                <a:solidFill>
                  <a:srgbClr val="00838F"/>
                </a:solidFill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343400"/>
            <a:ext cx="6766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800" b="1">
                <a:solidFill>
                  <a:srgbClr val="1C2732"/>
                </a:solidFill>
              </a:rPr>
              <a:t>Odra Bira · Sai Rohith Bharadwaj · Pranay Lachuluri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983480"/>
            <a:ext cx="27432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2400" b="1">
                <a:solidFill>
                  <a:srgbClr val="1C2732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1944</Words>
  <Application>Microsoft Macintosh PowerPoint</Application>
  <PresentationFormat>Widescreen</PresentationFormat>
  <Paragraphs>247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Odra Bira</cp:lastModifiedBy>
  <cp:revision>2</cp:revision>
  <dcterms:created xsi:type="dcterms:W3CDTF">2013-01-27T09:14:16Z</dcterms:created>
  <dcterms:modified xsi:type="dcterms:W3CDTF">2026-05-06T17:08:31Z</dcterms:modified>
  <cp:category/>
</cp:coreProperties>
</file>